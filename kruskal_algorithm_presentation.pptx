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62895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 b="1">
                <a:solidFill>
                  <a:srgbClr val="2563EB"/>
                </a:solidFill>
                <a:latin typeface="Verdana"/>
              </a:defRPr>
            </a:pPr>
            <a:r>
              <a:t>GRAPH THEORY &amp; NETWORK OPTIMISATION</a:t>
            </a:r>
          </a:p>
          <a:p>
            <a:pPr>
              <a:spcAft>
                <a:spcPts val="1600"/>
              </a:spcAft>
              <a:defRPr sz="4400" b="1">
                <a:solidFill>
                  <a:srgbClr val="F8FAFC"/>
                </a:solidFill>
                <a:latin typeface="Georgia"/>
              </a:defRPr>
            </a:pPr>
            <a:r>
              <a:t>Mastering Kruskal's Algorithm</a:t>
            </a:r>
          </a:p>
          <a:p>
            <a:pPr>
              <a:defRPr sz="1800">
                <a:solidFill>
                  <a:srgbClr val="64748B"/>
                </a:solidFill>
                <a:latin typeface="Verdana"/>
              </a:defRPr>
            </a:pPr>
            <a:r>
              <a:t>Building Minimum Spanning Trees in 5-Vertex Networks Using Greedy Selection &amp; Union-Find Logic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5303520"/>
            <a:ext cx="2743200" cy="508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2563EB"/>
                </a:solidFill>
                <a:latin typeface="Verdana"/>
              </a:defRPr>
            </a:pPr>
            <a:r>
              <a:t>CORE ALGORITHM LOGIC</a:t>
            </a:r>
          </a:p>
          <a:p>
            <a:pPr>
              <a:defRPr sz="2400" b="1">
                <a:solidFill>
                  <a:srgbClr val="0F172A"/>
                </a:solidFill>
                <a:latin typeface="Georgia"/>
              </a:defRPr>
            </a:pPr>
            <a:r>
              <a:t>Three-Step Greedy Strategy Guarantees Minimal Cost Without Cycles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3328416" cy="4114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  <a:effectLst>
            <a:outerShdw blurRad="30000" dist="15000" dir="540000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spcAft>
                <a:spcPts val="400"/>
              </a:spcAft>
              <a:defRPr sz="1800" b="1">
                <a:solidFill>
                  <a:srgbClr val="2563EB"/>
                </a:solidFill>
                <a:latin typeface="Verdana"/>
              </a:defRPr>
            </a:pPr>
            <a:r>
              <a:t>1. SORT EDGES</a:t>
            </a:r>
          </a:p>
          <a:p>
            <a:pPr>
              <a:spcAft>
                <a:spcPts val="1600"/>
              </a:spcAft>
              <a:defRPr sz="1600" b="1">
                <a:solidFill>
                  <a:srgbClr val="0F172A"/>
                </a:solidFill>
                <a:latin typeface="Georgia"/>
              </a:defRPr>
            </a:pPr>
            <a:r>
              <a:t>Lightest to Heaviest</a:t>
            </a:r>
          </a:p>
          <a:p>
            <a:pPr>
              <a:defRPr sz="1400">
                <a:solidFill>
                  <a:srgbClr val="64748B"/>
                </a:solidFill>
                <a:latin typeface="Verdana"/>
              </a:defRPr>
            </a:pPr>
            <a:r>
              <a:t>Order all connections in the graph by weight in ascending order. Infinite values (9999) indicate non-existent paths.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425696" y="1645920"/>
            <a:ext cx="3328416" cy="4114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  <a:effectLst>
            <a:outerShdw blurRad="30000" dist="15000" dir="540000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spcAft>
                <a:spcPts val="400"/>
              </a:spcAft>
              <a:defRPr sz="1800" b="1">
                <a:solidFill>
                  <a:srgbClr val="2563EB"/>
                </a:solidFill>
                <a:latin typeface="Verdana"/>
              </a:defRPr>
            </a:pPr>
            <a:r>
              <a:t>2. GREEDILY PICK</a:t>
            </a:r>
          </a:p>
          <a:p>
            <a:pPr>
              <a:spcAft>
                <a:spcPts val="1600"/>
              </a:spcAft>
              <a:defRPr sz="1600" b="1">
                <a:solidFill>
                  <a:srgbClr val="0F172A"/>
                </a:solidFill>
                <a:latin typeface="Georgia"/>
              </a:defRPr>
            </a:pPr>
            <a:r>
              <a:t>Smallest Weight First</a:t>
            </a:r>
          </a:p>
          <a:p>
            <a:pPr>
              <a:defRPr sz="1400">
                <a:solidFill>
                  <a:srgbClr val="64748B"/>
                </a:solidFill>
                <a:latin typeface="Verdana"/>
              </a:defRPr>
            </a:pPr>
            <a:r>
              <a:t>Methodically evaluate edges one by one, picking the smallest available edge weight to build the framework.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119872" y="1645920"/>
            <a:ext cx="3328416" cy="4114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  <a:effectLst>
            <a:outerShdw blurRad="30000" dist="15000" dir="540000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spcAft>
                <a:spcPts val="400"/>
              </a:spcAft>
              <a:defRPr sz="1800" b="1">
                <a:solidFill>
                  <a:srgbClr val="2563EB"/>
                </a:solidFill>
                <a:latin typeface="Verdana"/>
              </a:defRPr>
            </a:pPr>
            <a:r>
              <a:t>3. UNION-FIND CHECK</a:t>
            </a:r>
          </a:p>
          <a:p>
            <a:pPr>
              <a:spcAft>
                <a:spcPts val="1600"/>
              </a:spcAft>
              <a:defRPr sz="1600" b="1">
                <a:solidFill>
                  <a:srgbClr val="0F172A"/>
                </a:solidFill>
                <a:latin typeface="Georgia"/>
              </a:defRPr>
            </a:pPr>
            <a:r>
              <a:t>Discard Closed Loops</a:t>
            </a:r>
          </a:p>
          <a:p>
            <a:pPr>
              <a:defRPr sz="1400">
                <a:solidFill>
                  <a:srgbClr val="64748B"/>
                </a:solidFill>
                <a:latin typeface="Verdana"/>
              </a:defRPr>
            </a:pPr>
            <a:r>
              <a:t>Apply cycle-detection logic (Find/DSU) to reject any edge that forms a closed loop, preserving a pure tree structure.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2563EB"/>
                </a:solidFill>
                <a:latin typeface="Verdana"/>
              </a:defRPr>
            </a:pPr>
            <a:r>
              <a:t>EXECUTION PHASE 1</a:t>
            </a:r>
          </a:p>
          <a:p>
            <a:pPr>
              <a:defRPr sz="2400" b="1">
                <a:solidFill>
                  <a:srgbClr val="0F172A"/>
                </a:solidFill>
                <a:latin typeface="Georgia"/>
              </a:defRPr>
            </a:pPr>
            <a:r>
              <a:t>Union-Find Logic Catches Cycle at Edge A–C to Avoid Redundant Loops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645920"/>
          <a:ext cx="658368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1097280"/>
                <a:gridCol w="1645920"/>
                <a:gridCol w="2560320"/>
              </a:tblGrid>
              <a:tr h="1028700">
                <a:tc>
                  <a:txBody>
                    <a:bodyPr lIns="137160" rIns="137160"/>
                    <a:lstStyle/>
                    <a:p>
                      <a:pPr>
                        <a:defRPr sz="1300" b="1">
                          <a:solidFill>
                            <a:srgbClr val="F8FAFC"/>
                          </a:solidFill>
                          <a:latin typeface="Verdana"/>
                        </a:defRPr>
                      </a:pPr>
                      <a:r>
                        <a:t>Edge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 lIns="137160" rIns="137160"/>
                    <a:lstStyle/>
                    <a:p>
                      <a:pPr>
                        <a:defRPr sz="1300" b="1">
                          <a:solidFill>
                            <a:srgbClr val="F8FAFC"/>
                          </a:solidFill>
                          <a:latin typeface="Verdana"/>
                        </a:defRPr>
                      </a:pPr>
                      <a:r>
                        <a:t>Weight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 lIns="137160" rIns="137160"/>
                    <a:lstStyle/>
                    <a:p>
                      <a:pPr>
                        <a:defRPr sz="1300" b="1">
                          <a:solidFill>
                            <a:srgbClr val="F8FAFC"/>
                          </a:solidFill>
                          <a:latin typeface="Verdana"/>
                        </a:defRPr>
                      </a:pPr>
                      <a:r>
                        <a:t>Decision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 lIns="137160" rIns="137160"/>
                    <a:lstStyle/>
                    <a:p>
                      <a:pPr>
                        <a:defRPr sz="1300" b="1">
                          <a:solidFill>
                            <a:srgbClr val="F8FAFC"/>
                          </a:solidFill>
                          <a:latin typeface="Verdana"/>
                        </a:defRPr>
                      </a:pPr>
                      <a:r>
                        <a:t>Union-Find Reason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1028700">
                <a:tc>
                  <a:txBody>
                    <a:bodyPr lIns="137160" rIns="137160"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  <a:latin typeface="Verdana"/>
                        </a:defRPr>
                      </a:pPr>
                      <a:r>
                        <a:t>A – 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37160" rIns="137160"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  <a:latin typeface="Verdana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37160" rIns="137160"/>
                    <a:lstStyle/>
                    <a:p>
                      <a:pPr>
                        <a:defRPr sz="1300" b="1">
                          <a:solidFill>
                            <a:srgbClr val="059669"/>
                          </a:solidFill>
                          <a:latin typeface="Verdana"/>
                        </a:defRPr>
                      </a:pPr>
                      <a:r>
                        <a:t>ACCEPTED</a:t>
                      </a:r>
                    </a:p>
                  </a:txBody>
                  <a:tcPr>
                    <a:solidFill>
                      <a:srgbClr val="D1FAE5"/>
                    </a:solidFill>
                  </a:tcPr>
                </a:tc>
                <a:tc>
                  <a:txBody>
                    <a:bodyPr lIns="137160" rIns="137160"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  <a:latin typeface="Verdana"/>
                        </a:defRPr>
                      </a:pPr>
                      <a:r>
                        <a:t>Smallest edge overall; no cycle risk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28700">
                <a:tc>
                  <a:txBody>
                    <a:bodyPr lIns="137160" rIns="137160"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  <a:latin typeface="Verdana"/>
                        </a:defRPr>
                      </a:pPr>
                      <a:r>
                        <a:t>B – 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37160" rIns="137160"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  <a:latin typeface="Verdana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37160" rIns="137160"/>
                    <a:lstStyle/>
                    <a:p>
                      <a:pPr>
                        <a:defRPr sz="1300" b="1">
                          <a:solidFill>
                            <a:srgbClr val="059669"/>
                          </a:solidFill>
                          <a:latin typeface="Verdana"/>
                        </a:defRPr>
                      </a:pPr>
                      <a:r>
                        <a:t>ACCEPTED</a:t>
                      </a:r>
                    </a:p>
                  </a:txBody>
                  <a:tcPr>
                    <a:solidFill>
                      <a:srgbClr val="D1FAE5"/>
                    </a:solidFill>
                  </a:tcPr>
                </a:tc>
                <a:tc>
                  <a:txBody>
                    <a:bodyPr lIns="137160" rIns="137160"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  <a:latin typeface="Verdana"/>
                        </a:defRPr>
                      </a:pPr>
                      <a:r>
                        <a:t>Next smallest edge; adds vertex C cleanly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28700">
                <a:tc>
                  <a:txBody>
                    <a:bodyPr lIns="137160" rIns="137160"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  <a:latin typeface="Verdana"/>
                        </a:defRPr>
                      </a:pPr>
                      <a:r>
                        <a:t>A – 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37160" rIns="137160"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  <a:latin typeface="Verdana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37160" rIns="137160"/>
                    <a:lstStyle/>
                    <a:p>
                      <a:pPr>
                        <a:defRPr sz="1300" b="1">
                          <a:solidFill>
                            <a:srgbClr val="DC2626"/>
                          </a:solidFill>
                          <a:latin typeface="Verdana"/>
                        </a:defRPr>
                      </a:pPr>
                      <a:r>
                        <a:t>SKIPPED</a:t>
                      </a:r>
                    </a:p>
                  </a:txBody>
                  <a:tcPr>
                    <a:solidFill>
                      <a:srgbClr val="FEF2F2"/>
                    </a:solidFill>
                  </a:tcPr>
                </a:tc>
                <a:tc>
                  <a:txBody>
                    <a:bodyPr lIns="137160" rIns="137160"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  <a:latin typeface="Verdana"/>
                        </a:defRPr>
                      </a:pPr>
                      <a:r>
                        <a:t>Forms closed triangle A–B–C; rejected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Rounded Rectangle 3"/>
          <p:cNvSpPr/>
          <p:nvPr/>
        </p:nvSpPr>
        <p:spPr>
          <a:xfrm>
            <a:off x="7589520" y="1645920"/>
            <a:ext cx="3840480" cy="4114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  <a:effectLst>
            <a:outerShdw blurRad="30000" dist="15000" dir="540000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spcAft>
                <a:spcPts val="1000"/>
              </a:spcAft>
              <a:defRPr sz="1200" b="1">
                <a:solidFill>
                  <a:srgbClr val="DC2626"/>
                </a:solidFill>
                <a:latin typeface="Verdana"/>
              </a:defRPr>
            </a:pPr>
            <a:r>
              <a:t>KEY INSIGHT: DISCARDING EDGE A–C</a:t>
            </a:r>
          </a:p>
          <a:p>
            <a:pPr>
              <a:spcAft>
                <a:spcPts val="1000"/>
              </a:spcAft>
              <a:defRPr sz="1300">
                <a:solidFill>
                  <a:srgbClr val="0F172A"/>
                </a:solidFill>
                <a:latin typeface="Verdana"/>
              </a:defRPr>
            </a:pPr>
            <a:r>
              <a:t>• Vertices A and C are already connected via A–B (1) and B–C (2), offering an indirect path at cost 3.</a:t>
            </a:r>
          </a:p>
          <a:p>
            <a:pPr>
              <a:spcAft>
                <a:spcPts val="1000"/>
              </a:spcAft>
              <a:defRPr sz="1300">
                <a:solidFill>
                  <a:srgbClr val="0F172A"/>
                </a:solidFill>
                <a:latin typeface="Verdana"/>
              </a:defRPr>
            </a:pPr>
            <a:r>
              <a:t>• Adding direct edge A–C (cost 3) creates a redundant 3-node loop.</a:t>
            </a:r>
          </a:p>
          <a:p>
            <a:pPr>
              <a:spcAft>
                <a:spcPts val="1000"/>
              </a:spcAft>
              <a:defRPr sz="1300">
                <a:solidFill>
                  <a:srgbClr val="0F172A"/>
                </a:solidFill>
                <a:latin typeface="Verdana"/>
              </a:defRPr>
            </a:pPr>
            <a:r>
              <a:t>• Union-Find algorithm checks root sets: find(A) == find(C), triggering an instant skip.</a:t>
            </a:r>
          </a:p>
          <a:p>
            <a:pPr>
              <a:spcAft>
                <a:spcPts val="1000"/>
              </a:spcAft>
              <a:defRPr sz="1300">
                <a:solidFill>
                  <a:srgbClr val="0F172A"/>
                </a:solidFill>
                <a:latin typeface="Verdana"/>
              </a:defRPr>
            </a:pPr>
            <a:r>
              <a:t>• This maintains zero redundant loops across the spanning tree.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2563EB"/>
                </a:solidFill>
                <a:latin typeface="Verdana"/>
              </a:defRPr>
            </a:pPr>
            <a:r>
              <a:t>EXECUTION PHASE 2</a:t>
            </a:r>
          </a:p>
          <a:p>
            <a:pPr>
              <a:defRPr sz="2400" b="1">
                <a:solidFill>
                  <a:srgbClr val="0F172A"/>
                </a:solidFill>
                <a:latin typeface="Georgia"/>
              </a:defRPr>
            </a:pPr>
            <a:r>
              <a:t>Edge C–E Connects Final Vertex While C–D is Discarded for Cycle Risk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645920"/>
          <a:ext cx="658368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1097280"/>
                <a:gridCol w="1645920"/>
                <a:gridCol w="2560320"/>
              </a:tblGrid>
              <a:tr h="1028700">
                <a:tc>
                  <a:txBody>
                    <a:bodyPr lIns="137160" rIns="137160"/>
                    <a:lstStyle/>
                    <a:p>
                      <a:pPr>
                        <a:defRPr sz="1300" b="1">
                          <a:solidFill>
                            <a:srgbClr val="F8FAFC"/>
                          </a:solidFill>
                          <a:latin typeface="Verdana"/>
                        </a:defRPr>
                      </a:pPr>
                      <a:r>
                        <a:t>Edge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 lIns="137160" rIns="137160"/>
                    <a:lstStyle/>
                    <a:p>
                      <a:pPr>
                        <a:defRPr sz="1300" b="1">
                          <a:solidFill>
                            <a:srgbClr val="F8FAFC"/>
                          </a:solidFill>
                          <a:latin typeface="Verdana"/>
                        </a:defRPr>
                      </a:pPr>
                      <a:r>
                        <a:t>Weight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 lIns="137160" rIns="137160"/>
                    <a:lstStyle/>
                    <a:p>
                      <a:pPr>
                        <a:defRPr sz="1300" b="1">
                          <a:solidFill>
                            <a:srgbClr val="F8FAFC"/>
                          </a:solidFill>
                          <a:latin typeface="Verdana"/>
                        </a:defRPr>
                      </a:pPr>
                      <a:r>
                        <a:t>Decision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 lIns="137160" rIns="137160"/>
                    <a:lstStyle/>
                    <a:p>
                      <a:pPr>
                        <a:defRPr sz="1300" b="1">
                          <a:solidFill>
                            <a:srgbClr val="F8FAFC"/>
                          </a:solidFill>
                          <a:latin typeface="Verdana"/>
                        </a:defRPr>
                      </a:pPr>
                      <a:r>
                        <a:t>Union-Find Reason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1028700">
                <a:tc>
                  <a:txBody>
                    <a:bodyPr lIns="137160" rIns="137160"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  <a:latin typeface="Verdana"/>
                        </a:defRPr>
                      </a:pPr>
                      <a:r>
                        <a:t>B – 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37160" rIns="137160"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  <a:latin typeface="Verdana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37160" rIns="137160"/>
                    <a:lstStyle/>
                    <a:p>
                      <a:pPr>
                        <a:defRPr sz="1300" b="1">
                          <a:solidFill>
                            <a:srgbClr val="059669"/>
                          </a:solidFill>
                          <a:latin typeface="Verdana"/>
                        </a:defRPr>
                      </a:pPr>
                      <a:r>
                        <a:t>ACCEPTED</a:t>
                      </a:r>
                    </a:p>
                  </a:txBody>
                  <a:tcPr>
                    <a:solidFill>
                      <a:srgbClr val="D1FAE5"/>
                    </a:solidFill>
                  </a:tcPr>
                </a:tc>
                <a:tc>
                  <a:txBody>
                    <a:bodyPr lIns="137160" rIns="137160"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  <a:latin typeface="Verdana"/>
                        </a:defRPr>
                      </a:pPr>
                      <a:r>
                        <a:t>Connects new vertex D; no cycle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28700">
                <a:tc>
                  <a:txBody>
                    <a:bodyPr lIns="137160" rIns="137160"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  <a:latin typeface="Verdana"/>
                        </a:defRPr>
                      </a:pPr>
                      <a:r>
                        <a:t>C – 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37160" rIns="137160"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  <a:latin typeface="Verdana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37160" rIns="137160"/>
                    <a:lstStyle/>
                    <a:p>
                      <a:pPr>
                        <a:defRPr sz="1300" b="1">
                          <a:solidFill>
                            <a:srgbClr val="DC2626"/>
                          </a:solidFill>
                          <a:latin typeface="Verdana"/>
                        </a:defRPr>
                      </a:pPr>
                      <a:r>
                        <a:t>SKIPPED</a:t>
                      </a:r>
                    </a:p>
                  </a:txBody>
                  <a:tcPr>
                    <a:solidFill>
                      <a:srgbClr val="FEF2F2"/>
                    </a:solidFill>
                  </a:tcPr>
                </a:tc>
                <a:tc>
                  <a:txBody>
                    <a:bodyPr lIns="137160" rIns="137160"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  <a:latin typeface="Verdana"/>
                        </a:defRPr>
                      </a:pPr>
                      <a:r>
                        <a:t>Forms cycle B–C–D; rejected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28700">
                <a:tc>
                  <a:txBody>
                    <a:bodyPr lIns="137160" rIns="137160"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  <a:latin typeface="Verdana"/>
                        </a:defRPr>
                      </a:pPr>
                      <a:r>
                        <a:t>C – 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37160" rIns="137160"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  <a:latin typeface="Verdana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37160" rIns="137160"/>
                    <a:lstStyle/>
                    <a:p>
                      <a:pPr>
                        <a:defRPr sz="1300" b="1">
                          <a:solidFill>
                            <a:srgbClr val="059669"/>
                          </a:solidFill>
                          <a:latin typeface="Verdana"/>
                        </a:defRPr>
                      </a:pPr>
                      <a:r>
                        <a:t>ACCEPTED</a:t>
                      </a:r>
                    </a:p>
                  </a:txBody>
                  <a:tcPr>
                    <a:solidFill>
                      <a:srgbClr val="D1FAE5"/>
                    </a:solidFill>
                  </a:tcPr>
                </a:tc>
                <a:tc>
                  <a:txBody>
                    <a:bodyPr lIns="137160" rIns="137160"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  <a:latin typeface="Verdana"/>
                        </a:defRPr>
                      </a:pPr>
                      <a:r>
                        <a:t>Connects final vertex E; TREE COMPLETE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Rounded Rectangle 3"/>
          <p:cNvSpPr/>
          <p:nvPr/>
        </p:nvSpPr>
        <p:spPr>
          <a:xfrm>
            <a:off x="7589520" y="1645920"/>
            <a:ext cx="3840480" cy="4114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  <a:effectLst>
            <a:outerShdw blurRad="30000" dist="15000" dir="540000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spcAft>
                <a:spcPts val="1000"/>
              </a:spcAft>
              <a:defRPr sz="1200" b="1">
                <a:solidFill>
                  <a:srgbClr val="2563EB"/>
                </a:solidFill>
                <a:latin typeface="Verdana"/>
              </a:defRPr>
            </a:pPr>
            <a:r>
              <a:t>TERMINATION CONDITION (V - 1)</a:t>
            </a:r>
          </a:p>
          <a:p>
            <a:pPr>
              <a:spcAft>
                <a:spcPts val="1000"/>
              </a:spcAft>
              <a:defRPr sz="1300">
                <a:solidFill>
                  <a:srgbClr val="0F172A"/>
                </a:solidFill>
                <a:latin typeface="Verdana"/>
              </a:defRPr>
            </a:pPr>
            <a:r>
              <a:t>• Mathematical Rule: Any tree connecting V vertices requires exactly V - 1 edges.</a:t>
            </a:r>
          </a:p>
          <a:p>
            <a:pPr>
              <a:spcAft>
                <a:spcPts val="1000"/>
              </a:spcAft>
              <a:defRPr sz="1300">
                <a:solidFill>
                  <a:srgbClr val="0F172A"/>
                </a:solidFill>
                <a:latin typeface="Verdana"/>
              </a:defRPr>
            </a:pPr>
            <a:r>
              <a:t>• For our 5-vertex test network (V = 5), target edge count = 4.</a:t>
            </a:r>
          </a:p>
          <a:p>
            <a:pPr>
              <a:spcAft>
                <a:spcPts val="1000"/>
              </a:spcAft>
              <a:defRPr sz="1300">
                <a:solidFill>
                  <a:srgbClr val="0F172A"/>
                </a:solidFill>
                <a:latin typeface="Verdana"/>
              </a:defRPr>
            </a:pPr>
            <a:r>
              <a:t>• Edge C–E (cost 6) adds vertex E, reaching exactly 4 chosen edges.</a:t>
            </a:r>
          </a:p>
          <a:p>
            <a:pPr>
              <a:spcAft>
                <a:spcPts val="1000"/>
              </a:spcAft>
              <a:defRPr sz="1300">
                <a:solidFill>
                  <a:srgbClr val="0F172A"/>
                </a:solidFill>
                <a:latin typeface="Verdana"/>
              </a:defRPr>
            </a:pPr>
            <a:r>
              <a:t>• Higher weight edges in matrix are safely ignored, halting execution in milliseconds.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2563EB"/>
                </a:solidFill>
                <a:latin typeface="Verdana"/>
              </a:defRPr>
            </a:pPr>
            <a:r>
              <a:t>FINAL RESULTS &amp; SUMMARY</a:t>
            </a:r>
          </a:p>
          <a:p>
            <a:pPr>
              <a:defRPr sz="2400" b="1">
                <a:solidFill>
                  <a:srgbClr val="0F172A"/>
                </a:solidFill>
                <a:latin typeface="Georgia"/>
              </a:defRPr>
            </a:pPr>
            <a:r>
              <a:t>Optimal Spanning Tree Connects 5 Vertices at Total Cost of 13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3328416" cy="1645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  <a:effectLst>
            <a:outerShdw blurRad="30000" dist="15000" dir="540000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ctr">
              <a:defRPr sz="1100" b="1">
                <a:solidFill>
                  <a:srgbClr val="64748B"/>
                </a:solidFill>
                <a:latin typeface="Verdana"/>
              </a:defRPr>
            </a:pPr>
            <a:r>
              <a:t>TOTAL VERTICES</a:t>
            </a:r>
          </a:p>
          <a:p>
            <a:pPr algn="ctr">
              <a:defRPr sz="3600" b="1">
                <a:solidFill>
                  <a:srgbClr val="2563EB"/>
                </a:solidFill>
                <a:latin typeface="Georgia"/>
              </a:defRPr>
            </a:pPr>
            <a:r>
              <a:t>5</a:t>
            </a:r>
          </a:p>
          <a:p>
            <a:pPr algn="ctr">
              <a:defRPr sz="1100">
                <a:solidFill>
                  <a:srgbClr val="0F172A"/>
                </a:solidFill>
                <a:latin typeface="Verdana"/>
              </a:defRPr>
            </a:pPr>
            <a:r>
              <a:t>Vertices A, B, C, D, E Connected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425696" y="1645920"/>
            <a:ext cx="3328416" cy="1645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  <a:effectLst>
            <a:outerShdw blurRad="30000" dist="15000" dir="540000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ctr">
              <a:defRPr sz="1100" b="1">
                <a:solidFill>
                  <a:srgbClr val="64748B"/>
                </a:solidFill>
                <a:latin typeface="Verdana"/>
              </a:defRPr>
            </a:pPr>
            <a:r>
              <a:t>EDGES SELECTED</a:t>
            </a:r>
          </a:p>
          <a:p>
            <a:pPr algn="ctr">
              <a:defRPr sz="3600" b="1">
                <a:solidFill>
                  <a:srgbClr val="2563EB"/>
                </a:solidFill>
                <a:latin typeface="Georgia"/>
              </a:defRPr>
            </a:pPr>
            <a:r>
              <a:t>4</a:t>
            </a:r>
          </a:p>
          <a:p>
            <a:pPr algn="ctr">
              <a:defRPr sz="1100">
                <a:solidFill>
                  <a:srgbClr val="0F172A"/>
                </a:solidFill>
                <a:latin typeface="Verdana"/>
              </a:defRPr>
            </a:pPr>
            <a:r>
              <a:t>Paths: A–B, B–C, B–D, C–E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119872" y="1645920"/>
            <a:ext cx="3328416" cy="1645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  <a:effectLst>
            <a:outerShdw blurRad="30000" dist="15000" dir="540000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ctr">
              <a:defRPr sz="1100" b="1">
                <a:solidFill>
                  <a:srgbClr val="64748B"/>
                </a:solidFill>
                <a:latin typeface="Verdana"/>
              </a:defRPr>
            </a:pPr>
            <a:r>
              <a:t>MINIMUM COST</a:t>
            </a:r>
          </a:p>
          <a:p>
            <a:pPr algn="ctr">
              <a:defRPr sz="3600" b="1">
                <a:solidFill>
                  <a:srgbClr val="059669"/>
                </a:solidFill>
                <a:latin typeface="Georgia"/>
              </a:defRPr>
            </a:pPr>
            <a:r>
              <a:t>13</a:t>
            </a:r>
          </a:p>
          <a:p>
            <a:pPr algn="ctr">
              <a:defRPr sz="1100">
                <a:solidFill>
                  <a:srgbClr val="0F172A"/>
                </a:solidFill>
                <a:latin typeface="Verdana"/>
              </a:defRPr>
            </a:pPr>
            <a:r>
              <a:t>1 + 2 + 4 + 6 = 13 Total Weight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566160"/>
            <a:ext cx="10728655" cy="2560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  <a:effectLst>
            <a:outerShdw blurRad="30000" dist="15000" dir="540000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spcAft>
                <a:spcPts val="800"/>
              </a:spcAft>
              <a:defRPr sz="1300" b="1">
                <a:solidFill>
                  <a:srgbClr val="2563EB"/>
                </a:solidFill>
                <a:latin typeface="Verdana"/>
              </a:defRPr>
            </a:pPr>
            <a:r>
              <a:t>ALGORITHM PERFORMANCE RECAP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  <a:latin typeface="Verdana"/>
              </a:defRPr>
            </a:pPr>
            <a:r>
              <a:t>✔ Mathematically Proven Optimality: The greedy choice guarantees the minimum possible total weight for connected networks.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  <a:latin typeface="Verdana"/>
              </a:defRPr>
            </a:pPr>
            <a:r>
              <a:t>✔ Efficiency: Matrix infinity markers (9999) are filtered seamlessly during edge sorting.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  <a:latin typeface="Verdana"/>
              </a:defRPr>
            </a:pPr>
            <a:r>
              <a:t>✔ Zero Redundant Infrastructure: Union-Find cycle detection completely eliminates closed loops and wasted connection costs.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  <a:latin typeface="Verdana"/>
              </a:defRPr>
            </a:pPr>
            <a:r>
              <a:t>✔ Execution Speed: Solution computed in milliseconds for simple test graphs, scaling reliably to massive networks.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2563EB"/>
                </a:solidFill>
                <a:latin typeface="Verdana"/>
              </a:defRPr>
            </a:pPr>
            <a:r>
              <a:t>PRACTICAL APPLICATIONS</a:t>
            </a:r>
          </a:p>
          <a:p>
            <a:pPr>
              <a:defRPr sz="2400" b="1">
                <a:solidFill>
                  <a:srgbClr val="0F172A"/>
                </a:solidFill>
                <a:latin typeface="Georgia"/>
              </a:defRPr>
            </a:pPr>
            <a:r>
              <a:t>Scaling Greedy Union-Find Logic to Global Telecommunications Infrastructure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175504" cy="4114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  <a:effectLst>
            <a:outerShdw blurRad="30000" dist="15000" dir="540000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spcAft>
                <a:spcPts val="1000"/>
              </a:spcAft>
              <a:defRPr sz="1300" b="1">
                <a:solidFill>
                  <a:srgbClr val="2563EB"/>
                </a:solidFill>
                <a:latin typeface="Verdana"/>
              </a:defRPr>
            </a:pPr>
            <a:r>
              <a:t>SCALING TO MASSIVE NETWORKS</a:t>
            </a:r>
          </a:p>
          <a:p>
            <a:pPr>
              <a:spcAft>
                <a:spcPts val="1000"/>
              </a:spcAft>
              <a:defRPr sz="1300">
                <a:solidFill>
                  <a:srgbClr val="0F172A"/>
                </a:solidFill>
                <a:latin typeface="Verdana"/>
              </a:defRPr>
            </a:pPr>
            <a:r>
              <a:t>• Time Complexity: O(E log E) due to initial edge sorting, where E is total edge count.</a:t>
            </a:r>
          </a:p>
          <a:p>
            <a:pPr>
              <a:spcAft>
                <a:spcPts val="1000"/>
              </a:spcAft>
              <a:defRPr sz="1300">
                <a:solidFill>
                  <a:srgbClr val="0F172A"/>
                </a:solidFill>
                <a:latin typeface="Verdana"/>
              </a:defRPr>
            </a:pPr>
            <a:r>
              <a:t>• Disjoint Set Union (DSU): Path compression makes Union-Find operations virtually O(1) constant time.</a:t>
            </a:r>
          </a:p>
          <a:p>
            <a:pPr>
              <a:spcAft>
                <a:spcPts val="1000"/>
              </a:spcAft>
              <a:defRPr sz="1300">
                <a:solidFill>
                  <a:srgbClr val="0F172A"/>
                </a:solidFill>
                <a:latin typeface="Verdana"/>
              </a:defRPr>
            </a:pPr>
            <a:r>
              <a:t>• Millisecond Performance: Can process networks with millions of vertices and edges within seconds.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78270" y="1645920"/>
            <a:ext cx="5175504" cy="4114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  <a:effectLst>
            <a:outerShdw blurRad="30000" dist="15000" dir="540000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spcAft>
                <a:spcPts val="1000"/>
              </a:spcAft>
              <a:defRPr sz="1300" b="1">
                <a:solidFill>
                  <a:srgbClr val="059669"/>
                </a:solidFill>
                <a:latin typeface="Verdana"/>
              </a:defRPr>
            </a:pPr>
            <a:r>
              <a:t>REAL-WORLD INFRASTRUCTURE IMPACT</a:t>
            </a:r>
          </a:p>
          <a:p>
            <a:pPr>
              <a:spcAft>
                <a:spcPts val="1000"/>
              </a:spcAft>
              <a:defRPr sz="1300">
                <a:solidFill>
                  <a:srgbClr val="0F172A"/>
                </a:solidFill>
                <a:latin typeface="Verdana"/>
              </a:defRPr>
            </a:pPr>
            <a:r>
              <a:t>• Fiber Optic Telecoms: Lays subsea cable routes linking global data centers at minimum multi-billion-dollar expense.</a:t>
            </a:r>
          </a:p>
          <a:p>
            <a:pPr>
              <a:spcAft>
                <a:spcPts val="1000"/>
              </a:spcAft>
              <a:defRPr sz="1300">
                <a:solidFill>
                  <a:srgbClr val="0F172A"/>
                </a:solidFill>
                <a:latin typeface="Verdana"/>
              </a:defRPr>
            </a:pPr>
            <a:r>
              <a:t>• Power Grid Layouts: Connects electrical substations to cities without costly redundant wiring loops.</a:t>
            </a:r>
          </a:p>
          <a:p>
            <a:pPr>
              <a:spcAft>
                <a:spcPts val="1000"/>
              </a:spcAft>
              <a:defRPr sz="1300">
                <a:solidFill>
                  <a:srgbClr val="0F172A"/>
                </a:solidFill>
                <a:latin typeface="Verdana"/>
              </a:defRPr>
            </a:pPr>
            <a:r>
              <a:t>• Ethernet Spanning Tree (STP): Prevents broadcast storms in network switches by dynamically disabling loop paths.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